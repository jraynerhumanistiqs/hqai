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spc="100" kern="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HQ.ai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Humanistiqs product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v2 + Enterprise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Review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320040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consolidated view of the May 2026 pricing rebuild: Solo and Business tiers, Foundation 100 offer, the Enterprise tier, and the sliding-scale multipliers that flex Enterprise on real cost-to-serve drivers.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6177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Author: Jimmy Rayner   |   For: Humanistiqs Directors   |   May 2026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766560" y="21945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+ HQ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76656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Intelligence + Judgement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16459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840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EXECUTIVE SUMMARY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changed since the last brief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6E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00200"/>
            <a:ext cx="24688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00200"/>
            <a:ext cx="2468880" cy="7315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83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v2 shipped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331720"/>
            <a:ext cx="2103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$89, Business $249 replaced the old $99/$199/$379 trio. Foundation 100 locks Business at $179/mo for life on a 12-month commit, capped at 100 customers.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37560" y="1600200"/>
            <a:ext cx="24688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37560" y="1600200"/>
            <a:ext cx="2468880" cy="7315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1783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launched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0440" y="2331720"/>
            <a:ext cx="2103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SKUs at $1,495 / $2,995 / $3,995 per month annual-equivalent. Annual contract or month-to-month at a ~17% premium with 30 days notice. Sales-assisted via /enterprise.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600200"/>
            <a:ext cx="24688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0" y="1600200"/>
            <a:ext cx="2468880" cy="7315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1783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Multipliers added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0" y="2331720"/>
            <a:ext cx="2103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flexes on three published, stepped dimensions: headcount band, hiring volume, entity complexity. Customer self-calculates. No quotes-per-deal.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F7F7F2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937760"/>
            <a:ext cx="5486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HQ.ai Pricing - Director Review - May 2026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772400" y="4937760"/>
            <a:ext cx="914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16459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840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THE STACK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pricing stack at a glance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6E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00200"/>
            <a:ext cx="82296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00200"/>
            <a:ext cx="73152" cy="50292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6002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(Full)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29000" y="16002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$3,995/mo annual or $4,495/mo monthly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172200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surfaces. One partner team.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82296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194560"/>
            <a:ext cx="73152" cy="50292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94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(Recruit)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29000" y="2194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$2,995/mo annual or $3,495/mo monthly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72200" y="21945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Talent Partner. Up to 4 concurrent roles.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788920"/>
            <a:ext cx="82296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788920"/>
            <a:ext cx="73152" cy="50292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7889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(People)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29000" y="27889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$1,495/mo annual or $1,795/mo monthly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172200" y="2788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Humanistiqs Advisor. 2 calls + business-day SLA.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383280"/>
            <a:ext cx="8229600" cy="502920"/>
          </a:xfrm>
          <a:prstGeom prst="rect">
            <a:avLst/>
          </a:prstGeom>
          <a:solidFill>
            <a:srgbClr val="F7F7F2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33832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429000" y="33832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$249/mo or $2,490/yr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172200" y="33832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seats, 2,500 credits, unlimited recruit. Most popular.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977640"/>
            <a:ext cx="8229600" cy="502920"/>
          </a:xfrm>
          <a:prstGeom prst="rect">
            <a:avLst/>
          </a:prstGeom>
          <a:solidFill>
            <a:srgbClr val="F7F7F2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3977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429000" y="3977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$89/mo or $890/yr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172200" y="3977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seats, 500 credits, 1 active recruit role.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45720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subscription on Solo + Business. Sales-assisted (founder-led discovery call) for Enterprise. One-off marketplace SKUs from $25-$49 sit alongside as no-signup utility purchases.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F7F7F2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937760"/>
            <a:ext cx="5486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HQ.ai Pricing - Director Review - May 2026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772400" y="4937760"/>
            <a:ext cx="914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16459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840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SELF-SERVE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and Business tiers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6E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00200"/>
            <a:ext cx="40690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your DIY policy file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24688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$89/mo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$890/yr (saves 2 months)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324612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3246120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seats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349300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3493008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AI credits/mo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3739896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8680" y="3739896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active recruit role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5800" y="3986784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" y="3986784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library (100 docs)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5800" y="423367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" y="42336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Pay-as-you-go advisor escalation at $80/session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17720" y="1600200"/>
            <a:ext cx="4069080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35240" y="1463040"/>
            <a:ext cx="1051560" cy="27432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3" name="Text 21"/>
          <p:cNvSpPr/>
          <p:nvPr/>
        </p:nvSpPr>
        <p:spPr>
          <a:xfrm>
            <a:off x="7635240" y="146304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POPULAR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84632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846320" y="21214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your $850/mo Employsure retainer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46320" y="24688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$249/mo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4846320" y="28803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$2,490/yr (saves 2 months)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46320" y="324612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029200" y="3246120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seats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46320" y="349300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029200" y="3493008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2,500 AI credits/mo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46320" y="3739896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0" y="3739896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recruit roles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46320" y="3986784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0" y="3986784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document library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846320" y="423367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029200" y="42336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 30-min onboarding call. Most popular.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14-day free trial of Business features, 200 credits to spend, no card required.   Overage credits: $20 = 500 credits, top-up on either tier.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F7F7F2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4937760"/>
            <a:ext cx="5486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HQ.ai Pricing - Director Review - May 2026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772400" y="4937760"/>
            <a:ext cx="914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16459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840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EARLY-COHORT OFFER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100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6E5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9164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</a:t>
            </a:r>
            <a:endParaRPr lang="en-US" sz="140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customers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017520" y="16916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017520" y="196596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100 customers to sign Business tier on a 12-month annual commit lock the rate at $179/month for life.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017520" y="24688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$249/mo standard. Saves $840/yr on year one, locked at $2,148/yr forever even if we raise prices.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017520" y="29718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perks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017520" y="324612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Lifetime-locked $179/mo (saving $840/yr indefinitely)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Slack channel and monthly cohort call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access to every new module (Hospitality, Trades, Allied Health Packs from 2027)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on the Foundation 100 wall on the marketing site (opt-in)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F7F7F2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937760"/>
            <a:ext cx="5486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HQ.ai Pricing - Director Review - May 2026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0" y="4937760"/>
            <a:ext cx="914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16459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840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ENTERPRISE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plus HQ - the human-advisor layer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6E5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54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is where HQ.ai stops being a tool and starts being a partner. A Humanistiqs Advisor or Talent Partner embeds into the business; the AI is their leverage, not the product.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240280"/>
            <a:ext cx="24688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240280"/>
            <a:ext cx="2468880" cy="7315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 People Enterprise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788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advisor on the line for the hard 20% of HR.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33375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$1,495/mo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" y="365760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$17,940/yr annual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385876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$1,795/mo monthly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41148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40-150 staff. Office Manager or Operations Lead carrying HR on the side.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37560" y="2240280"/>
            <a:ext cx="24688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37560" y="2240280"/>
            <a:ext cx="2468880" cy="7315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7" name="Text 15"/>
          <p:cNvSpPr/>
          <p:nvPr/>
        </p:nvSpPr>
        <p:spPr>
          <a:xfrm>
            <a:off x="352044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 Recruit Enterprise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20440" y="2788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Talent Partner running your hiring funnel. Not a recruiter, not an agency.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520440" y="33375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$2,995/mo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520440" y="365760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$35,940/yr annual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520440" y="385876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$3,495/mo monthly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520440" y="41148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50-250 staff. Hires 12-60 roles/yr. Tired of agency fees, will not hire internal recruiter.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217920" y="2240280"/>
            <a:ext cx="246888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2240280"/>
            <a:ext cx="2468880" cy="7315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Enterprise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0" y="2788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+ Recruit. Single partner team. Operating layer for both functions.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0" y="33375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$3,995/mo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400800" y="365760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$47,940/yr annual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0" y="385876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$4,495/mo monthly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400800" y="41148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80-250 staff. Both shapes of problem. Most chosen.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Year-1 hard cap: 10 partnerships total. Published as scarcity signal AND service-quality protection. Inaugural concession: first 5 customers get $200/mo off in exchange for a public case study.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F7F7F2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937760"/>
            <a:ext cx="5486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HQ.ai Pricing - Director Review - May 2026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72400" y="4937760"/>
            <a:ext cx="914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16459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840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BILLING CYCLE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contract or month-to-month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6E5E0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560320"/>
                <a:gridCol w="1828800"/>
                <a:gridCol w="16459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977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contract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Month-to-month rate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HQ People Enterprise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977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$1,495/mo, $17,940/yr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$1,795/mo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$3,600/yr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HQ Recruit Enterprise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977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$2,995/mo, $35,940/yr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$3,495/mo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$6,000/yr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Enterprise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977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$3,995/mo, $47,940/yr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$4,495/mo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$5,940/yr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657600"/>
            <a:ext cx="8229600" cy="1051560"/>
          </a:xfrm>
          <a:prstGeom prst="rect">
            <a:avLst/>
          </a:prstGeom>
          <a:solidFill>
            <a:srgbClr val="F7F7F2"/>
          </a:solidFill>
          <a:ln/>
        </p:spPr>
      </p:sp>
      <p:sp>
        <p:nvSpPr>
          <p:cNvPr id="8" name="Shape 5"/>
          <p:cNvSpPr/>
          <p:nvPr/>
        </p:nvSpPr>
        <p:spPr>
          <a:xfrm>
            <a:off x="457200" y="3657600"/>
            <a:ext cx="73152" cy="105156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3749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both: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011680" y="3730752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is the anchor and the calendar-reservation-aligned choice. Month-to-month carries a ~17% premium (inverse of the Solo/Business annual discount band) with 30 days cancellation notice. Notice period protects the advisor calendar against same-day disappearances. Both routed via Stripe Invoicing; founder picks the right Price ID at engagement-letter signing.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F7F7F2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4937760"/>
            <a:ext cx="5486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HQ.ai Pricing - Director Review - May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7772400" y="4937760"/>
            <a:ext cx="914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16459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840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SLIDING SCALE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multipliers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6E5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08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price is the headline. Three published multipliers flex Enterprise on the dimensions that actually drive advisor and talent-partner workload. Customer can self-calculate before the discovery call. No negotiation.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246888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057400"/>
            <a:ext cx="2468880" cy="7315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194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Headcount band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5420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40-150 staff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74520" y="25420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8346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151-250 staff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874520" y="2834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+$400 / +$300 / +$650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31272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251-500 staff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74520" y="312724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tier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341985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500+ staff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874520" y="341985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tier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40233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Uplift per People / Recruit / Full per month.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2057400"/>
            <a:ext cx="246888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37560" y="2057400"/>
            <a:ext cx="2468880" cy="7315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1" name="Text 19"/>
          <p:cNvSpPr/>
          <p:nvPr/>
        </p:nvSpPr>
        <p:spPr>
          <a:xfrm>
            <a:off x="3520440" y="2194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Hiring volume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520440" y="25420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4 concurrent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54880" y="25420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20440" y="28346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5-6 concurrent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54880" y="2834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+$750/mo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20440" y="31272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7-8 concurrent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754880" y="312724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+$1,500/mo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520440" y="341985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9+ concurrent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54880" y="341985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Hiring quoted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520440" y="40233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 + Full only. Roughly 50/70/90/100+ closures/yr.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217920" y="2057400"/>
            <a:ext cx="246888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17920" y="2057400"/>
            <a:ext cx="2468880" cy="7315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0" y="2194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complexity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400800" y="25420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entity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635240" y="25420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400800" y="28346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entities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635240" y="2834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+15% of base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400800" y="31272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4-5 entities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635240" y="312724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+25% of base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400800" y="341985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6+ entities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635240" y="341985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tier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0" y="40233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variant. Entity uplift calculated against base alone, not running subtotal.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57200" y="46360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Bands are sticky at signing. We re-price at each annual anniversary with 60 days notice. Mid-contract growth into a higher band does not trigger a mid-cycle re-price.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F7F7F2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4937760"/>
            <a:ext cx="5486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HQ.ai Pricing - Director Review - May 2026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772400" y="4937760"/>
            <a:ext cx="914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16459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840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WORKED EXAMPLES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maths actually plays out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6E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00200"/>
            <a:ext cx="40690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00200"/>
            <a:ext cx="73152" cy="155448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9476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200-staff single-entity allied health. People Enterprise.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2313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$1,495 + headcount $400 + volume n/a + entity $0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2697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$1,895/mo annual ($22,740/yr)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17720" y="1600200"/>
            <a:ext cx="40690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17720" y="1600200"/>
            <a:ext cx="73152" cy="155448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19476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75-staff franchise group of 4 cafes. Full Enterprise.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2313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$3,995 + headcount $0 + volume $0 + entity 25% of base $999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46320" y="2697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$4,994/mo annual ($59,928/yr)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310128"/>
            <a:ext cx="40690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310128"/>
            <a:ext cx="73152" cy="155448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401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" y="3657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120-staff scaling tech, ~75 roles/yr, 6 concurrent. Recruit Enterprise.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5800" y="4023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$2,995 + headcount $0 + volume $750 + entity $0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85800" y="4407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$3,745/mo annual ($44,940/yr) - vs RPO at $150k/yr, still 3.3x cheaper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17720" y="3310128"/>
            <a:ext cx="40690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17720" y="3310128"/>
            <a:ext cx="73152" cy="155448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6" name="Text 24"/>
          <p:cNvSpPr/>
          <p:nvPr/>
        </p:nvSpPr>
        <p:spPr>
          <a:xfrm>
            <a:off x="4846320" y="3401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46320" y="3657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220-staff multi-state retail, 3 entities, ~65 roles/yr. Full Enterprise.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46320" y="4023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$3,995 + headcount $650 + volume $750 + entity 15% of base $599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46320" y="4407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$5,994/mo annual ($71,928/yr) - upper end of standard band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F7F7F2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937760"/>
            <a:ext cx="5486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HQ.ai Pricing - Director Review - May 2026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772400" y="4937760"/>
            <a:ext cx="914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16459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840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OPERATIONS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model and sales motion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6E5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544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Year-1 capacity envelope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4114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"/>
                <a:gridCol w="16459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Jimmy (founder)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6-8 People 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 Advisor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8-12 People 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 Talent Partner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4-5 Recruit 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Year-1 hard cap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977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customers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846320" y="15544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motion - founder-led, no team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46320" y="1874520"/>
            <a:ext cx="365760" cy="365760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0" name="Text 7"/>
          <p:cNvSpPr/>
          <p:nvPr/>
        </p:nvSpPr>
        <p:spPr>
          <a:xfrm>
            <a:off x="484632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349240" y="183794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 Enterprise card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349240" y="203911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Solo/Business + Enterprise visible on /pricing.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846320" y="2441448"/>
            <a:ext cx="365760" cy="365760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4" name="Text 11"/>
          <p:cNvSpPr/>
          <p:nvPr/>
        </p:nvSpPr>
        <p:spPr>
          <a:xfrm>
            <a:off x="4846320" y="2441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349240" y="240487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/enterprise page + inquiry form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349240" y="260604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variants, multiplier schedule, self-calculation.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846320" y="3008376"/>
            <a:ext cx="365760" cy="365760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8" name="Text 15"/>
          <p:cNvSpPr/>
          <p:nvPr/>
        </p:nvSpPr>
        <p:spPr>
          <a:xfrm>
            <a:off x="4846320" y="3008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5349240" y="297180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discovery call (48h)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349240" y="317296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Jimmy runs first 10 personally. 30 minutes.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846320" y="3575304"/>
            <a:ext cx="365760" cy="365760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22" name="Text 19"/>
          <p:cNvSpPr/>
          <p:nvPr/>
        </p:nvSpPr>
        <p:spPr>
          <a:xfrm>
            <a:off x="4846320" y="3575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349240" y="353872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Scoping doc + Stripe Invoice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349240" y="373989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5 business days. Signed within 14 days typical.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846320" y="4142232"/>
            <a:ext cx="365760" cy="365760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26" name="Text 23"/>
          <p:cNvSpPr/>
          <p:nvPr/>
        </p:nvSpPr>
        <p:spPr>
          <a:xfrm>
            <a:off x="4846320" y="4142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5349240" y="410565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onboarding sprint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349240" y="430682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walkthrough, knowledge ingestion, cadence locked by day 21.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F7F7F2"/>
          </a:solidFill>
          <a:ln/>
        </p:spPr>
      </p:sp>
      <p:sp>
        <p:nvSpPr>
          <p:cNvPr id="30" name="Text 27"/>
          <p:cNvSpPr/>
          <p:nvPr/>
        </p:nvSpPr>
        <p:spPr>
          <a:xfrm>
            <a:off x="457200" y="4937760"/>
            <a:ext cx="5486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HQ.ai Pricing - Director Review - May 2026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7772400" y="4937760"/>
            <a:ext cx="914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16459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840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THE NUMBERS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ARR and gross margin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6E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00200"/>
            <a:ext cx="40690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6916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19933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2026 - Apr 2027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5800" y="22402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$305,400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685800" y="28346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ARR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31546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customers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48840" y="31546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GM ($72,120)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3520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Modest absolute margin. Strategically priceless.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388620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named partnerships, 3-5 published case studies, 20-30 warm referrals into Business tier.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17720" y="1600200"/>
            <a:ext cx="4069080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0" y="16916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846320" y="19933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2027 - Apr 2028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846320" y="22402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$855,000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4846320" y="28346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ARR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46320" y="31546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customers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09360" y="31546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 GM ($290,700)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3520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lift via second-round hires + bench maturity.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388620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no longer the bottleneck; contractors mature into more customers per FTE; overage revenue compounds (~12% buy at least one overage/qtr).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46360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protected by capacity discipline. Hard 4-customer cap per Talent Partner; "intensive month" mechanic twice per advisor per year; mandatory quarterly utilisation review.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F7F7F2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937760"/>
            <a:ext cx="5486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HQ.ai Pricing - Director Review - May 2026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772400" y="4937760"/>
            <a:ext cx="914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16459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840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THE ASK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sign-off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6E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00200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05840" y="1563624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allocation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80136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Jimmy is good to allocate 0.4 FTE to Enterprise delivery for the next 12 months. If only 0.3 FTE, year-1 cap drops from 10 to 8.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203704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05840" y="2167128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Humanistiqs Advisor hire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240487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Pre-approve the senior ex-HR Director contract hire (~$120k/yr loaded) at the moment customer 9 signs. Lead time on senior contract placement is 6-10 weeks.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807208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807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05840" y="277063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Talent Partner hire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300837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Pre-approve the senior ex-TA Lead contract hire (~$100k/yr loaded) on the same trigger.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410712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410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05840" y="33741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Inaugural-customer concession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05840" y="36118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off the first-5-customers $200/mo discount in exchange for a public case study with named business and dollar saving. After customer 5, no discounting.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4014216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014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05840" y="3977640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insurance + capacity-cap publication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05840" y="42153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D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professional indemnity policy covers advisory work. Green-light publishing the 10-partnerships cap on the public /enterprise page as scarcity signal.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F7F7F2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937760"/>
            <a:ext cx="5486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HQ.ai Pricing - Director Review - May 2026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772400" y="4937760"/>
            <a:ext cx="914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HQ.ai Pricing - Director Review (May 2026)</dc:title>
  <dc:subject>Director review of HQ.ai pricing v2 + Enterprise tier</dc:subject>
  <dc:creator>Jimmy Rayner</dc:creator>
  <cp:lastModifiedBy>Jimmy Rayner</cp:lastModifiedBy>
  <cp:revision>1</cp:revision>
  <dcterms:created xsi:type="dcterms:W3CDTF">2026-05-21T08:03:40Z</dcterms:created>
  <dcterms:modified xsi:type="dcterms:W3CDTF">2026-05-21T08:03:40Z</dcterms:modified>
</cp:coreProperties>
</file>