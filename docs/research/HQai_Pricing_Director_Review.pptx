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HUMANISTIQS // HQ.AI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&amp; Monetisation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Director Review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4023360"/>
            <a:ext cx="548640" cy="457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20624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to retire per-seat pricing, ship the credit-and-marketplace chassis, and lock the first 100 customers before public launch.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Jimmy Rayner  //  21 May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//  EXECUTIVE RECOMMENDATION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Kill per-seat. Ship credits and a $25 one-off.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566160" cy="1097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WEEK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Rewrite the pricing page.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tiers (Solo $89, Business $249). Add metered credit overage. Ship /pricing/letter-of-offer at $25 with no signup. Publish Foundation 100 at $179/mo locked.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486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afternoon  //  1 Stripe SKU  //  1 banner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6616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783080"/>
            <a:ext cx="3566160" cy="109728"/>
          </a:xfrm>
          <a:prstGeom prst="rect">
            <a:avLst/>
          </a:prstGeom>
          <a:solidFill>
            <a:srgbClr val="C5483A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057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5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17720" y="24231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 the expert marketplace.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17720" y="361188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Two-sided liquidity is a hiring problem, a vetting problem, a compliance problem and a margin floor. Defer the lawyer / ER / payroll marketplace until 500+ paying customers and an ops hire.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17720" y="5486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C5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 sensible: Q1 2028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56616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1783080"/>
            <a:ext cx="3566160" cy="109728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2057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412480" y="24231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pricing is structurally unsafe.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12480" y="361188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Per-seat misprices the unit. A $40-API power user on the $99 plan is the Tome failure. No incumbent sells a single AU-compliant HR document under $48. Lawpath does. We can undercut it.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12480" y="5486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 chassis = profitable.  //  Tome chassis = shut down.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// 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our current pricing gets wrong, at once.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6596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828800" y="194767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prices seats, not decisions.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237744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sell seats (3 / 6 / 12). Our buyer thinks in businesses (12-person pub, 30-person clinic). Per-business beats per-seat for ICP psychology and crushes Employment Hero on TCO under 30 staff.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Hero @ 50 staff: $1,450/mo. Us at Business: $249/mo.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110642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42900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1828800" y="341071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has no defence against a power user.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828800" y="384048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heavy Solo user can burn $40+/month in Anthropic API cost while paying $99. That is the Tome failure mode at smaller scale. Credits map cost to value at the action level.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28800" y="425196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Tome: 20M users, $81.6M raised, shut down. Gamma: profitable, $2.1B valuation.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110642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89204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828800" y="487375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makes the marketplace look like a footnote.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28800" y="530352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one-off Letter of Offer is our lowest-friction wedge against every incumbent. No competitor sells a compliant AU HR document under $48. Lawpath does it at $48+. We can ship at $25.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828800" y="571500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Stripe SKU. No signup. Probably the cheapest CAC machine we will ever own.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//  PATTERN LIBRARY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winning subscription businesses do that we copy.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7432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1965960"/>
            <a:ext cx="731520" cy="256032"/>
          </a:xfrm>
          <a:prstGeom prst="rect">
            <a:avLst/>
          </a:prstGeom>
          <a:solidFill>
            <a:srgbClr val="3D8A5E"/>
          </a:solidFill>
          <a:ln/>
        </p:spPr>
      </p:sp>
      <p:sp>
        <p:nvSpPr>
          <p:cNvPr id="6" name="Text 4"/>
          <p:cNvSpPr/>
          <p:nvPr/>
        </p:nvSpPr>
        <p:spPr>
          <a:xfrm>
            <a:off x="2377440" y="19751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Gamma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Credit-based hybrid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subscription + metered credit overage. Profitable, $2.1B valuation, $102M ARR.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10712" y="1783080"/>
            <a:ext cx="27432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39512" y="1965960"/>
            <a:ext cx="731520" cy="256032"/>
          </a:xfrm>
          <a:prstGeom prst="rect">
            <a:avLst/>
          </a:prstGeom>
          <a:solidFill>
            <a:srgbClr val="3D8A5E"/>
          </a:solidFill>
          <a:ln/>
        </p:spPr>
      </p:sp>
      <p:sp>
        <p:nvSpPr>
          <p:cNvPr id="12" name="Text 10"/>
          <p:cNvSpPr/>
          <p:nvPr/>
        </p:nvSpPr>
        <p:spPr>
          <a:xfrm>
            <a:off x="5239512" y="19751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39312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Lawpath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9312" y="2377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Two-path landing (AU)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39312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AND one-off documents. Same fearful AU SME buyer. Closest behavioural analogue we have.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72784" y="1783080"/>
            <a:ext cx="27432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1584" y="1965960"/>
            <a:ext cx="731520" cy="256032"/>
          </a:xfrm>
          <a:prstGeom prst="rect">
            <a:avLst/>
          </a:prstGeom>
          <a:solidFill>
            <a:srgbClr val="B8770F"/>
          </a:solidFill>
          <a:ln/>
        </p:spPr>
      </p:sp>
      <p:sp>
        <p:nvSpPr>
          <p:cNvPr id="18" name="Text 16"/>
          <p:cNvSpPr/>
          <p:nvPr/>
        </p:nvSpPr>
        <p:spPr>
          <a:xfrm>
            <a:off x="8101584" y="19751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01384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Calendly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01384" y="2377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with ceiling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01384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exists but caps the expansion trigger. Drove $290M ARR.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34856" y="1783080"/>
            <a:ext cx="27432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963656" y="1965960"/>
            <a:ext cx="731520" cy="256032"/>
          </a:xfrm>
          <a:prstGeom prst="rect">
            <a:avLst/>
          </a:prstGeom>
          <a:solidFill>
            <a:srgbClr val="B8770F"/>
          </a:solidFill>
          <a:ln/>
        </p:spPr>
      </p:sp>
      <p:sp>
        <p:nvSpPr>
          <p:cNvPr id="24" name="Text 22"/>
          <p:cNvSpPr/>
          <p:nvPr/>
        </p:nvSpPr>
        <p:spPr>
          <a:xfrm>
            <a:off x="10963656" y="19751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63456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363456" y="2377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collapse to 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363456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Killed the middle decoy when it ate conversion. We follow.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096512"/>
            <a:ext cx="27432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77440" y="4279392"/>
            <a:ext cx="731520" cy="256032"/>
          </a:xfrm>
          <a:prstGeom prst="rect">
            <a:avLst/>
          </a:prstGeom>
          <a:solidFill>
            <a:srgbClr val="B8770F"/>
          </a:solidFill>
          <a:ln/>
        </p:spPr>
      </p:sp>
      <p:sp>
        <p:nvSpPr>
          <p:cNvPr id="30" name="Text 28"/>
          <p:cNvSpPr/>
          <p:nvPr/>
        </p:nvSpPr>
        <p:spPr>
          <a:xfrm>
            <a:off x="2377440" y="42885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77240" y="4279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Superhuman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77240" y="4690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pilot day one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7240" y="505663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$30/mo from day one, no free trial. NRR 120%+ from launch. Anchors our pilot.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410712" y="4096512"/>
            <a:ext cx="27432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39512" y="4279392"/>
            <a:ext cx="731520" cy="256032"/>
          </a:xfrm>
          <a:prstGeom prst="rect">
            <a:avLst/>
          </a:prstGeom>
          <a:solidFill>
            <a:srgbClr val="C5483A"/>
          </a:solidFill>
          <a:ln/>
        </p:spPr>
      </p:sp>
      <p:sp>
        <p:nvSpPr>
          <p:cNvPr id="36" name="Text 34"/>
          <p:cNvSpPr/>
          <p:nvPr/>
        </p:nvSpPr>
        <p:spPr>
          <a:xfrm>
            <a:off x="5239512" y="42885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39312" y="4279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Employment Hero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3639312" y="4690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Per-employee pricing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39312" y="505663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$19-$49 per employee. Penalises growth. Crushed on TCO under 30 staff.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72784" y="4096512"/>
            <a:ext cx="27432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01584" y="4279392"/>
            <a:ext cx="731520" cy="256032"/>
          </a:xfrm>
          <a:prstGeom prst="rect">
            <a:avLst/>
          </a:prstGeom>
          <a:solidFill>
            <a:srgbClr val="C5483A"/>
          </a:solidFill>
          <a:ln/>
        </p:spPr>
      </p:sp>
      <p:sp>
        <p:nvSpPr>
          <p:cNvPr id="42" name="Text 40"/>
          <p:cNvSpPr/>
          <p:nvPr/>
        </p:nvSpPr>
        <p:spPr>
          <a:xfrm>
            <a:off x="8101584" y="42885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501384" y="4279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Employsure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6501384" y="4690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retainer lock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501384" y="505663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ACCC-fined. Churn engine. Brand-poisoned. The opposite of what we are.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9134856" y="4096512"/>
            <a:ext cx="27432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963656" y="4279392"/>
            <a:ext cx="731520" cy="256032"/>
          </a:xfrm>
          <a:prstGeom prst="rect">
            <a:avLst/>
          </a:prstGeom>
          <a:solidFill>
            <a:srgbClr val="C5483A"/>
          </a:solidFill>
          <a:ln/>
        </p:spPr>
      </p:sp>
      <p:sp>
        <p:nvSpPr>
          <p:cNvPr id="48" name="Text 46"/>
          <p:cNvSpPr/>
          <p:nvPr/>
        </p:nvSpPr>
        <p:spPr>
          <a:xfrm>
            <a:off x="10963656" y="42885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9363456" y="4279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Cursor / Replit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9363456" y="4690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usage metered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363456" y="505663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Anxiety-inducing for SMB owners who want predictable monthly. Hybrid only.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//  WHY CREDITS, NOT SEATS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Tome cautionary. Read once. Internalise.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864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5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20M users. $81.6M raised. Shut down.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97180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product-market fit on growth.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Per-deck Claude + diffusion cost grew faster than per-seat revenue.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stayed below $4M while burning seven figures monthly.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acquired by AngelList. Founders pivoted to a CRM.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5074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C5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Per-seat pricing was the failure mode. Our $99 / $199 / $379 tiers have the same exposure.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94960" cy="4297680"/>
          </a:xfrm>
          <a:prstGeom prst="rect">
            <a:avLst/>
          </a:prstGeom>
          <a:solidFill>
            <a:srgbClr val="141413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70M users. $102M ARR. Profitable.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46520" y="2971800"/>
            <a:ext cx="4937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exists, but credits cap AI generation.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$8, Pro $18, Ultra $100. Tier-locked features.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users always pay. Light users get hooked.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Cost-to-value mapped at the action level.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46520" y="50749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Adopting Gamma chassis with one base credit primitive is the single highest-conviction call in this brief.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//  THE RECOMMENDED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tiers, one credit primitive, one paid-once SKU.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your DIY policy file.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$89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3657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 AUD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931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$890/yr  //  2 months free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4297680"/>
            <a:ext cx="2926080" cy="18288"/>
          </a:xfrm>
          <a:prstGeom prst="rect">
            <a:avLst/>
          </a:prstGeom>
          <a:solidFill>
            <a:srgbClr val="D1CFC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43484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Advisor with Fair Work citations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HR document templates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 Recruit: 1 active role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AI credits/month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seats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51960" y="1783080"/>
            <a:ext cx="3474720" cy="4206240"/>
          </a:xfrm>
          <a:prstGeom prst="rect">
            <a:avLst/>
          </a:prstGeom>
          <a:solidFill>
            <a:srgbClr val="141413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5080" y="1618488"/>
            <a:ext cx="1234440" cy="29260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4" name="Text 12"/>
          <p:cNvSpPr/>
          <p:nvPr/>
        </p:nvSpPr>
        <p:spPr>
          <a:xfrm>
            <a:off x="6355080" y="161848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26280" y="2011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52628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your $850/mo Employsure retainer.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26280" y="29718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$249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4526280" y="3657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 AUD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3931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$2,490/yr  //  2 months free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26280" y="4297680"/>
            <a:ext cx="2926080" cy="18288"/>
          </a:xfrm>
          <a:prstGeom prst="rect">
            <a:avLst/>
          </a:prstGeom>
          <a:solidFill>
            <a:srgbClr val="3D3D3A"/>
          </a:solidFill>
          <a:ln/>
        </p:spPr>
      </p:sp>
      <p:sp>
        <p:nvSpPr>
          <p:cNvPr id="21" name="Text 19"/>
          <p:cNvSpPr/>
          <p:nvPr/>
        </p:nvSpPr>
        <p:spPr>
          <a:xfrm>
            <a:off x="4526280" y="443484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Solo, plus...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recruit roles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document library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 AI credits/month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advisor escalations included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onboarding call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seats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955280" y="178308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One-Off Documents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22960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letter. One price. No signup.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0" y="2971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$25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229600" y="3657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SKU  //  ships in days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0" y="4297680"/>
            <a:ext cx="3108960" cy="18288"/>
          </a:xfrm>
          <a:prstGeom prst="rect">
            <a:avLst/>
          </a:prstGeom>
          <a:solidFill>
            <a:srgbClr val="D1CFC5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0" y="443484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of Offer  //  $25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&amp; Final Warning  //  $35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Description  //  $29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Letter  //  $45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Contract  //  $49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5 more on launch.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trial: 14 days, full Business access, 200 credits, no card required. No free-forever tier - the $25 one-off is the genuine zero-commitment surface.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//  THE CREDIT PRIMITIVE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one credit, in plain English.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75488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CREDIT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2402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one AI chat turn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~$0.03 in API cost. ~85% gross margin at $0.04/credit overage.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3429000"/>
            <a:ext cx="4297680" cy="18288"/>
          </a:xfrm>
          <a:prstGeom prst="rect">
            <a:avLst/>
          </a:prstGeom>
          <a:solidFill>
            <a:srgbClr val="D1CFC5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Solo: 500 credits/month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3977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100 chat turns, OR 100 docs, OR 20 phone screens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4434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Business: 2,500 credits/month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7240" y="48006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room to run active hiring on a 30-person team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5349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Overage: $20 = 500 top-up credits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57150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7x markup on raw API. Heavy use signals upgrade.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0" y="1783080"/>
            <a:ext cx="612648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0720" y="19659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PER ACTION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760720" y="2377440"/>
            <a:ext cx="5577840" cy="502920"/>
          </a:xfrm>
          <a:prstGeom prst="rect">
            <a:avLst/>
          </a:prstGeom>
          <a:solidFill>
            <a:srgbClr val="E8E6DC"/>
          </a:solidFill>
          <a:ln/>
        </p:spPr>
      </p:sp>
      <p:sp>
        <p:nvSpPr>
          <p:cNvPr id="18" name="Text 16"/>
          <p:cNvSpPr/>
          <p:nvPr/>
        </p:nvSpPr>
        <p:spPr>
          <a:xfrm>
            <a:off x="5852160" y="23774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35440" y="2377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241280" y="23774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52160" y="2880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 turn (Sonnet + RAG)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235440" y="28803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0" y="288036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~$0.03 API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60720" y="3383280"/>
            <a:ext cx="5577840" cy="502920"/>
          </a:xfrm>
          <a:prstGeom prst="rect">
            <a:avLst/>
          </a:prstGeom>
          <a:solidFill>
            <a:srgbClr val="F0EEE6"/>
          </a:solidFill>
          <a:ln/>
        </p:spPr>
      </p:sp>
      <p:sp>
        <p:nvSpPr>
          <p:cNvPr id="25" name="Text 23"/>
          <p:cNvSpPr/>
          <p:nvPr/>
        </p:nvSpPr>
        <p:spPr>
          <a:xfrm>
            <a:off x="585216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generation (33 templates)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33832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241280" y="33832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render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52160" y="38862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scored against rubric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38862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241280" y="38862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+ scoring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760720" y="4389120"/>
            <a:ext cx="5577840" cy="502920"/>
          </a:xfrm>
          <a:prstGeom prst="rect">
            <a:avLst/>
          </a:prstGeom>
          <a:solidFill>
            <a:srgbClr val="F0EEE6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0" y="4389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screen (transcript + scoring)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235440" y="4389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241280" y="4389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unit cost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852160" y="48920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ingestion per policy doc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235440" y="4892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0241280" y="4892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One-time, batched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760720" y="5394960"/>
            <a:ext cx="5577840" cy="502920"/>
          </a:xfrm>
          <a:prstGeom prst="rect">
            <a:avLst/>
          </a:prstGeom>
          <a:solidFill>
            <a:srgbClr val="F0EEE6"/>
          </a:solidFill>
          <a:ln/>
        </p:spPr>
      </p:sp>
      <p:sp>
        <p:nvSpPr>
          <p:cNvPr id="39" name="Text 37"/>
          <p:cNvSpPr/>
          <p:nvPr/>
        </p:nvSpPr>
        <p:spPr>
          <a:xfrm>
            <a:off x="5852160" y="53949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interpretation deep-dive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235440" y="5394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241280" y="539496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RAG depth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//  UNIT ECONOMICS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every band, we cost less than Employment Hero or Employsure.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65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size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148840" y="19659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HQ.ai tier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794760" y="1965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HQ.ai /mo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6636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Hero /mo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60920" y="1965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Employsure typical /mo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372600" y="1965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save / month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10698480" cy="18288"/>
          </a:xfrm>
          <a:prstGeom prst="rect">
            <a:avLst/>
          </a:prstGeom>
          <a:solidFill>
            <a:srgbClr val="D1CFC5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060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staff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48840" y="2606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94760" y="26060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$89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166360" y="2606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$290 (Plus @ $29/emp)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60920" y="2606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$850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372600" y="2606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$201 vs EH  //  $761 vs 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3383280"/>
            <a:ext cx="10698480" cy="731520"/>
          </a:xfrm>
          <a:prstGeom prst="rect">
            <a:avLst/>
          </a:prstGeom>
          <a:solidFill>
            <a:srgbClr val="F0EEE6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383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staff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48840" y="33832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794760" y="3383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$249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66360" y="3383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$1,450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6092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$1,500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372600" y="33832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$1,201 vs EH  //  $1,251 vs 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77240" y="41605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staff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148840" y="41605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+ Ent.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94760" y="41605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~$499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66360" y="41605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$7,250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60920" y="41605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$5,000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372600" y="4160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$6,751 vs EH  //  $4,501 vs 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77240" y="5349240"/>
            <a:ext cx="10698480" cy="594360"/>
          </a:xfrm>
          <a:prstGeom prst="rect">
            <a:avLst/>
          </a:prstGeom>
          <a:solidFill>
            <a:srgbClr val="F5E5DD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53492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Flat pricing is our sword. Per-seat dulls it. Per-business sharpens it.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Hero Plus tier @ $29/employee/month. Employsure typical SMB retainer per industry sources. Enterprise tier sketched - not v1.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//  THE MARKETING WEAPONS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 100 + the $25 one-off.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86400" cy="4297680"/>
          </a:xfrm>
          <a:prstGeom prst="rect">
            <a:avLst/>
          </a:prstGeom>
          <a:solidFill>
            <a:srgbClr val="141413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20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100 CUSTOMERS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2402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 Member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$179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/month, locked for life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$249 standard.  //  Saves $840/yr.  //  12-month commit.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44348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Lifetime-locked rate (cannot be raised, ever).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Slack + monthly cohort Q&amp;A call.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access to every new module.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on the Foundation 100 wall.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783080"/>
            <a:ext cx="539496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COMMITMENT SURFACE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6520" y="22402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Letter of Offer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446520" y="29260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$25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6446520" y="36118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  //  no signup  //  3 minutes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46520" y="39319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Lawpath sells the equivalent at $48+. We undercut by 50%.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443484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Stripe one-off SKU. Ships in days.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Work compliant. Cited. Editable.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more SKUs in Q4 ($29-$49 each).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indicator for subscription conversion.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//  RETENTION - THE ACTIVATION MOMENT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moves a pilot from interested to embedded.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417320"/>
          </a:xfrm>
          <a:prstGeom prst="rect">
            <a:avLst/>
          </a:prstGeom>
          <a:solidFill>
            <a:srgbClr val="F5E5DD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745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cited Fair Work answer, within 90 seconds of signup.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423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 to Calendly's first booked meeting or Linear's first issue created. Calendly's cohort retains at 4-5x without it. Linear's at 9x at 30 days.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moment the buyer thinks 'this thing actually knows the law' - not 'this is ChatGPT with HR branding'.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520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ENGINEERED MOMENTS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1064240" cy="18288"/>
          </a:xfrm>
          <a:prstGeom prst="rect">
            <a:avLst/>
          </a:prstGeom>
          <a:solidFill>
            <a:srgbClr val="D1CFC5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9776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86000" y="39776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Industry-seeded chat prompt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412480" y="3977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Notion templates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434840"/>
            <a:ext cx="11064240" cy="411480"/>
          </a:xfrm>
          <a:prstGeom prst="rect">
            <a:avLst/>
          </a:prstGeom>
          <a:solidFill>
            <a:srgbClr val="F0EEE6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434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286000" y="44348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Auto-detected Award briefing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12480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Granola summaries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48920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286000" y="48920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document generation nudge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12480" y="4892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Calendly first meeting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11064240" cy="411480"/>
          </a:xfrm>
          <a:prstGeom prst="rect">
            <a:avLst/>
          </a:prstGeom>
          <a:solidFill>
            <a:srgbClr val="F0EEE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492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286000" y="53492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onboarding call (Business)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0" y="5349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Superhuman white-glove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5806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286000" y="58064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recap + next-question prompt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412480" y="58064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Linear digest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//  RETENTION - THE HABIT 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Monday Brief. Engineered weekly cadence.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943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MONDAY  //  6AM AEST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240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 Sarah - here's your week in HR.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77240" y="292608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Fair Work change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32461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last 7 days that affects YOUR industry. Curated from FWO updates we already ingest.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388620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auto-generated prompt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4206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business calendar. 'Two probation reviews due this week. Want the letters drafted?'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484632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peer signal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51663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anonymised SMEs in your industry asked this week. Social proof in the inbox.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675120" y="1783080"/>
            <a:ext cx="4937760" cy="4297680"/>
          </a:xfrm>
          <a:prstGeom prst="rect">
            <a:avLst/>
          </a:prstGeom>
          <a:solidFill>
            <a:srgbClr val="F0EEE6"/>
          </a:solidFill>
          <a:ln w="9525">
            <a:solidFill>
              <a:srgbClr val="E8E6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DEFENSIBLE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90372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AU HR incumbent does this.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03720" y="2788920"/>
            <a:ext cx="4572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Hero has a blog. Not a personalised brief.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Employsure has a phone team. Not a digest.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Mailchimp built $1B ARR on this cadence pattern.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Granola is the AI-native version: daily meeting prep.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cost: one engineer-week.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903720" y="5120640"/>
            <a:ext cx="4572000" cy="18288"/>
          </a:xfrm>
          <a:prstGeom prst="rect">
            <a:avLst/>
          </a:prstGeom>
          <a:solidFill>
            <a:srgbClr val="D1CFC5"/>
          </a:solidFill>
          <a:ln/>
        </p:spPr>
      </p:sp>
      <p:sp>
        <p:nvSpPr>
          <p:cNvPr id="24" name="Text 22"/>
          <p:cNvSpPr/>
          <p:nvPr/>
        </p:nvSpPr>
        <p:spPr>
          <a:xfrm>
            <a:off x="6903720" y="5257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the 'I forgot I had a subscription' charge dispute.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//  DATA LOCK-IN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assets that make leaving more expensive each month.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5321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160520" y="20574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3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stickiness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Ingested firm policies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customer uploads their existing contracts, employee handbook and policies, leaving means redoing it all. Notion workspace pattern.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5661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free ingestion in both tiers. Never tax it.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55321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965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829800" y="20574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877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stickiness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92240" y="25146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Drafted document library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288036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letter, contract, warning and PIP generated lives searchable by employee. After 6 months: 50+ documents. Carta cap-table moat.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35661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month 3 nudge - 'Summary of every employee action this year?'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55321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251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160520" y="43434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877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stickiness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48006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HQ Recruit rubrics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516636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Job-specific scoring rubrics calibrated to the customer's hiring taste over 30+ candidates. HubSpot CRM data moat at smaller scale.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58521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surface rubric performance stats on month 2.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4069080"/>
            <a:ext cx="55321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251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9829800" y="43434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stickiness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92240" y="48006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Phone screen transcripts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92240" y="516636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a season. Candidates apply for a role and either work for the customer or do not. Less defensible long-term.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58521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deprioritise as a retention lever. Treat as a feature, not a moat.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//  EXPANSION TRIGGERS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in-product events that auto-prompt an upgrade.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5321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14173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024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 balance &lt;100 at day 20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'You will use 800 credits this month. Business includes 2,500 - upgrade now and we prorate.'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Notion AI limit prompt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99632" y="1783080"/>
            <a:ext cx="55321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9632" y="1783080"/>
            <a:ext cx="73152" cy="14173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1" name="Text 9"/>
          <p:cNvSpPr/>
          <p:nvPr/>
        </p:nvSpPr>
        <p:spPr>
          <a:xfrm>
            <a:off x="6473952" y="192024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4th active Recruit role on Solo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73952" y="22860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cap with one-click upgrade modal.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73952" y="2880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Slack 10k message limit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3319272"/>
            <a:ext cx="55321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319272"/>
            <a:ext cx="73152" cy="14173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45643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10th document in a month on Solo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3822192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'You have drafted 10 docs. Business unlocks unlimited and removes the 100-doc library cap.'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441655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Loom 25-videos prompt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99632" y="3319272"/>
            <a:ext cx="55321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9632" y="3319272"/>
            <a:ext cx="73152" cy="14173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1" name="Text 19"/>
          <p:cNvSpPr/>
          <p:nvPr/>
        </p:nvSpPr>
        <p:spPr>
          <a:xfrm>
            <a:off x="6473952" y="345643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advisor escalation request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73952" y="3822192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'Want a human? Business includes 2 sessions at $60 each, vs $80 on Solo.'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73952" y="441655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Calendly meeting limit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4855464"/>
            <a:ext cx="55321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855464"/>
            <a:ext cx="73152" cy="14173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4992624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6th seat invited on Solo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5358384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cap. 'Solo includes 3 seats. Invite a 4th, Business is yours.'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" y="5952744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Notion 8-people upgrade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99632" y="4855464"/>
            <a:ext cx="55321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9632" y="4855464"/>
            <a:ext cx="73152" cy="14173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4992624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30 of trial, 50+ chat turns, 0 escalations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73952" y="5358384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the founder onboarding call manually. High-conversion, low-volume.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73952" y="5952744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Superhuman white-glove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Engineering: lib/triggers/expansion-events.ts listens on the credit ledger and seat counter. ~2 founder-days to ship.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//  24-MONTH REVENUE SEQUENCE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new revenue stream per quarter. Opinionated.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322576" y="1920240"/>
            <a:ext cx="36576" cy="3749040"/>
          </a:xfrm>
          <a:prstGeom prst="rect">
            <a:avLst/>
          </a:prstGeom>
          <a:solidFill>
            <a:srgbClr val="D1CFC5"/>
          </a:solidFill>
          <a:ln/>
        </p:spPr>
      </p:sp>
      <p:sp>
        <p:nvSpPr>
          <p:cNvPr id="5" name="Shape 3"/>
          <p:cNvSpPr/>
          <p:nvPr/>
        </p:nvSpPr>
        <p:spPr>
          <a:xfrm>
            <a:off x="2203704" y="1993392"/>
            <a:ext cx="256032" cy="256032"/>
          </a:xfrm>
          <a:prstGeom prst="ellipse">
            <a:avLst/>
          </a:prstGeom>
          <a:solidFill>
            <a:srgbClr val="D97757"/>
          </a:solidFill>
          <a:ln w="25400">
            <a:solidFill>
              <a:srgbClr val="FAF9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385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06040" y="18745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Credits + Letter of Offer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6040" y="21762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new pricing. $25 LO. Foundation 100 opens.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0" y="19659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03704" y="2587752"/>
            <a:ext cx="256032" cy="256032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532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06040" y="2468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Marketplace SKU expansion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06040" y="27706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$45, Contract $49, Warning $35, PD $29.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0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+90 DAYS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03704" y="3182112"/>
            <a:ext cx="256032" cy="256032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1272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Q1 2027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06040" y="30632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Accountant partner channel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606040" y="33649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Xero-pattern 20% rev share. Bookkeeper / BAS agent focus.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0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+180 DAYS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03704" y="3776472"/>
            <a:ext cx="256032" cy="256032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2027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606040" y="3657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Hospitality Pack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606040" y="39593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$39/mo. RSA, junior rates, casual conversion, hospo award depth.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0" y="3749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+270 DAYS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203704" y="4370832"/>
            <a:ext cx="256032" cy="256032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3159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 2027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606040" y="4251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Trades Pack + v1 Enterprise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606040" y="45537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$39/mo trades. Inbound-only enterprise at $799/mo.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601200" y="4343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+360 DAYS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03704" y="4965192"/>
            <a:ext cx="256032" cy="256032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910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2027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606040" y="4846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Allied Health Pack + Benchmarks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2606040" y="51480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award depth. Anonymised benchmarks if &gt;500 paying.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601200" y="4937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+450 DAYS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203704" y="5559552"/>
            <a:ext cx="256032" cy="256032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5504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Q1-Q2 2028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606040" y="54406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Expert marketplace (finally)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2606040" y="57424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Vetted ER consultants + lawyers + payroll. 20% take rate.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601200" y="5532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+540 DAYS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launch per quarter is the solo-founder limit. Two launches in parallel kills both. The expert marketplace is deferred deliberately.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//  DEFENSIBILITY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moats. Build now. Win in 18 months.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1097280" cy="13716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83080"/>
            <a:ext cx="1097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828800" y="19202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AU-Awards trust moat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828800" y="2286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Harvey for lawyers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25603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chat answer cites a real Fair Work clause. ChatGPT cannot. Employment Hero ships a generic HR bot. Ours is the cited source of truth.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869680" y="1920240"/>
            <a:ext cx="2651760" cy="1097280"/>
          </a:xfrm>
          <a:prstGeom prst="rect">
            <a:avLst/>
          </a:prstGeom>
          <a:solidFill>
            <a:srgbClr val="F0EEE6"/>
          </a:solidFill>
          <a:ln/>
        </p:spPr>
      </p:sp>
      <p:sp>
        <p:nvSpPr>
          <p:cNvPr id="11" name="Text 9"/>
          <p:cNvSpPr/>
          <p:nvPr/>
        </p:nvSpPr>
        <p:spPr>
          <a:xfrm>
            <a:off x="90068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006840" y="2286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NOW. Citation discipline + Voyage-law-2 embedding swap.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11064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246120"/>
            <a:ext cx="1097280" cy="13716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246120"/>
            <a:ext cx="1097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828800" y="33832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Accountant channel moat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828800" y="3749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Xero's playbook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28800" y="40233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has 30k tax agents + 12k BAS agents. Each services 50-300 SMBs. They are trusted on tax, not HR - and they want to be.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869680" y="3383280"/>
            <a:ext cx="2651760" cy="1097280"/>
          </a:xfrm>
          <a:prstGeom prst="rect">
            <a:avLst/>
          </a:prstGeom>
          <a:solidFill>
            <a:srgbClr val="F0EEE6"/>
          </a:solidFill>
          <a:ln/>
        </p:spPr>
      </p:sp>
      <p:sp>
        <p:nvSpPr>
          <p:cNvPr id="20" name="Text 18"/>
          <p:cNvSpPr/>
          <p:nvPr/>
        </p:nvSpPr>
        <p:spPr>
          <a:xfrm>
            <a:off x="9006840" y="3474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006840" y="37490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Q1 2027. Target bookkeepers / BAS agents specifically.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709160"/>
            <a:ext cx="11064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709160"/>
            <a:ext cx="1097280" cy="1371600"/>
          </a:xfrm>
          <a:prstGeom prst="rect">
            <a:avLst/>
          </a:prstGeom>
          <a:solidFill>
            <a:srgbClr val="C6613F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4709160"/>
            <a:ext cx="1097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1828800" y="4846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 content currency moat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1828800" y="5212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Bloomberg, Westlaw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28800" y="54864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Modern Awards updated July annually. NES evolves via FWC. State WHS varies. A weekly editorial cadence becomes the citation standard.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869680" y="4846320"/>
            <a:ext cx="2651760" cy="1097280"/>
          </a:xfrm>
          <a:prstGeom prst="rect">
            <a:avLst/>
          </a:prstGeom>
          <a:solidFill>
            <a:srgbClr val="F0EEE6"/>
          </a:solidFill>
          <a:ln/>
        </p:spPr>
      </p:sp>
      <p:sp>
        <p:nvSpPr>
          <p:cNvPr id="29" name="Text 27"/>
          <p:cNvSpPr/>
          <p:nvPr/>
        </p:nvSpPr>
        <p:spPr>
          <a:xfrm>
            <a:off x="9006840" y="4937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006840" y="5212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Continuous. Weekly Friday ingest of FWO updates + Award amendments.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//  THE 90-SECOND PITCH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in a director meeting from this date forward.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429768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288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1371600" y="21945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HQ.ai's moat is three things, in order.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2788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One: </a:t>
            </a:r>
            <a:pPr indent="0" marL="0">
              <a:buNone/>
            </a:pPr>
            <a:r>
              <a:rPr lang="en-US" sz="1700" i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answer cites a Fair Work clause. No incumbent does this and ChatGPT can't.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429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Two: </a:t>
            </a:r>
            <a:pPr indent="0" marL="0">
              <a:buNone/>
            </a:pPr>
            <a:r>
              <a:rPr lang="en-US" sz="1700" i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are partner-first through accountants. The channel Xero used to lock the AU SMB market.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7160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Three: </a:t>
            </a:r>
            <a:pPr indent="0" marL="0">
              <a:buNone/>
            </a:pPr>
            <a:r>
              <a:rPr lang="en-US" sz="1700" i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corpus updates weekly against the FWO and 122 Modern Awards. A US entrant needs 12 months to catch up on currency alone.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77240" y="5440680"/>
            <a:ext cx="10058400" cy="18288"/>
          </a:xfrm>
          <a:prstGeom prst="rect">
            <a:avLst/>
          </a:prstGeom>
          <a:solidFill>
            <a:srgbClr val="3D3D3A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55778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Hero ships a generic HR bot in Q3. Ours will already be the cited source of truth for 500 accountants.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words. ~30 seconds. Three moats, three references, named timeline. Practise it.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//  PILOT TO PUBLIC LAUNCH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 for 30 days, then $79 locked for 12 months.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97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202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D3D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30 days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8163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Reciprocity for pilot work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55848" y="1783080"/>
            <a:ext cx="2697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19202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$79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538728" y="25603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 from day 31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38728" y="28163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for 12 months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63056" y="1783080"/>
            <a:ext cx="2697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5936" y="19202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5-10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345936" y="25603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cohort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5936" y="28163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100 slots 1-10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70264" y="1783080"/>
            <a:ext cx="2697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9202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Sep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153144" y="25603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launch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53144" y="28163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date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3375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13-WEEK TIMELINE  //  27 MAY -&gt; 2 SEPTEMBER 2026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37033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737360" y="37033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May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08960" y="3703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kickoff. Founder Zooms. Pricing page copy locked.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050792"/>
            <a:ext cx="11064240" cy="320040"/>
          </a:xfrm>
          <a:prstGeom prst="rect">
            <a:avLst/>
          </a:prstGeom>
          <a:solidFill>
            <a:srgbClr val="F0EEE6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405079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737360" y="40507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Jun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08960" y="40507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Slack. 3 'first cited answer' testimonials drafted.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7240" y="439826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W3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737360" y="439826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Jun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108960" y="4398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credit overage sold. First save-and-recover triggered.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745736"/>
            <a:ext cx="11064240" cy="320040"/>
          </a:xfrm>
          <a:prstGeom prst="rect">
            <a:avLst/>
          </a:prstGeom>
          <a:solidFill>
            <a:srgbClr val="F0EEE6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474573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W4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737360" y="474573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Jun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108960" y="474573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 conversion email. Letter of Offer goes live at /lo.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50932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737360" y="50932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Jun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108960" y="50932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100 page live with named pilots. First Brief lands.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solidFill>
            <a:srgbClr val="F0EEE6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5440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W6-8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737360" y="54406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108960" y="5440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 drafted. Accountant partner conversations begin.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77240" y="578815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W9-11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737360" y="578815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108960" y="57881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 warm intros captured. Foundation 100 enrolment opens public.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48640" y="6135624"/>
            <a:ext cx="11064240" cy="320040"/>
          </a:xfrm>
          <a:prstGeom prst="rect">
            <a:avLst/>
          </a:prstGeom>
          <a:solidFill>
            <a:srgbClr val="F0EEE6"/>
          </a:solidFill>
          <a:ln/>
        </p:spPr>
      </p:sp>
      <p:sp>
        <p:nvSpPr>
          <p:cNvPr id="46" name="Text 44"/>
          <p:cNvSpPr/>
          <p:nvPr/>
        </p:nvSpPr>
        <p:spPr>
          <a:xfrm>
            <a:off x="777240" y="613562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W13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737360" y="61356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Sep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108960" y="613562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launch. Smart Company / AFR Boss outreach goes live.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//  THE 5 PILOT METRICS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else is noise. These five drive the launch pricing page.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202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91640" y="1892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to first cited answer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91640" y="22402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signup to first chat answer with a Fair Work citation rendered. If pilots take longer, the onboarding flow leaks.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solidFill>
            <a:srgbClr val="F5E5DD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Target: &lt; 90 sec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743200"/>
            <a:ext cx="110642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880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691640" y="28529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active rate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32004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pilots who returned at least once between days 4-7. Below 60% = week-1 retention plays aren't working.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686800" y="2971800"/>
            <a:ext cx="2743200" cy="457200"/>
          </a:xfrm>
          <a:prstGeom prst="rect">
            <a:avLst/>
          </a:prstGeom>
          <a:solidFill>
            <a:srgbClr val="F5E5DD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Target: 70%+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8404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691640" y="381304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Credits per active user per month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41605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Load-bearing unit-economics metric. If median &gt; 2,000, raise prices or shrink credit allowance before launch.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solidFill>
            <a:srgbClr val="F5E5DD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Target: median &lt; 500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8006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1691640" y="47731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Willingness to pay $79 at day 31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91640" y="51206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Pilot-to-paid conversion. Below 50% and the value prop is not clear enough to ship publicly.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86800" y="4892040"/>
            <a:ext cx="2743200" cy="457200"/>
          </a:xfrm>
          <a:prstGeom prst="rect">
            <a:avLst/>
          </a:prstGeom>
          <a:solidFill>
            <a:srgbClr val="F5E5DD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0" y="4892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Target: 70%+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623560"/>
            <a:ext cx="110642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7607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1691640" y="57332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Spontaneous referral count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691640" y="60807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who refer at least one peer within 30 days. Below 20% means word-of-mouth growth alone will not carry us.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686800" y="5852160"/>
            <a:ext cx="2743200" cy="457200"/>
          </a:xfrm>
          <a:prstGeom prst="rect">
            <a:avLst/>
          </a:prstGeom>
          <a:solidFill>
            <a:srgbClr val="F5E5DD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0" y="5852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Target: 30%+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//  WHAT WE ARE NOT DOING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Sharp 'no' calls. As important as the 'yes' calls.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65960"/>
            <a:ext cx="548640" cy="548640"/>
          </a:xfrm>
          <a:prstGeom prst="rect">
            <a:avLst/>
          </a:prstGeom>
          <a:solidFill>
            <a:srgbClr val="C5483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17320" y="192024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free-forever tier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22860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Bleeds margin and confuses the wedge. The $25 one-off IS our zero-commitment surface.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1965960"/>
            <a:ext cx="548640" cy="548640"/>
          </a:xfrm>
          <a:prstGeom prst="rect">
            <a:avLst/>
          </a:prstGeom>
          <a:solidFill>
            <a:srgbClr val="C5483A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040880" y="192024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expert marketplace before 2028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0" y="22860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Two-sided liquidity is a hiring problem. Solo-operator marketplaces are a graveyard.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2953512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136392"/>
            <a:ext cx="548640" cy="548640"/>
          </a:xfrm>
          <a:prstGeom prst="rect">
            <a:avLst/>
          </a:prstGeom>
          <a:solidFill>
            <a:srgbClr val="C5483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136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417320" y="309067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'save 30% with 3-year contract'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17320" y="345643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Damages the anti-Employsure positioning that is our sharpest sword.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2953512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3136392"/>
            <a:ext cx="548640" cy="548640"/>
          </a:xfrm>
          <a:prstGeom prst="rect">
            <a:avLst/>
          </a:prstGeom>
          <a:solidFill>
            <a:srgbClr val="C5483A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3136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040880" y="309067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three-tier pricing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040880" y="345643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Growth $199 decoy eats conversion. Linear killed it; we follow.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123944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4306824"/>
            <a:ext cx="548640" cy="548640"/>
          </a:xfrm>
          <a:prstGeom prst="rect">
            <a:avLst/>
          </a:prstGeom>
          <a:solidFill>
            <a:srgbClr val="C5483A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4306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417320" y="426110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per-employee billing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417320" y="4626864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Punishes growth. Per-business is structurally cheaper and on-brand.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72200" y="4123944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09360" y="4306824"/>
            <a:ext cx="548640" cy="548640"/>
          </a:xfrm>
          <a:prstGeom prst="rect">
            <a:avLst/>
          </a:prstGeom>
          <a:solidFill>
            <a:srgbClr val="C548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09360" y="4306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040880" y="426110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enterprise sales team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040880" y="4626864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founder. Inbound-only Enterprise tier from Q3 2027.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5294376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477256"/>
            <a:ext cx="548640" cy="548640"/>
          </a:xfrm>
          <a:prstGeom prst="rect">
            <a:avLst/>
          </a:prstGeom>
          <a:solidFill>
            <a:srgbClr val="C5483A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4772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1417320" y="543153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paid downgrade-to-discount default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417320" y="5797296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'Stay for 50% off' trains every customer to threaten cancellation.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172200" y="5294376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09360" y="5477256"/>
            <a:ext cx="548640" cy="548640"/>
          </a:xfrm>
          <a:prstGeom prst="rect">
            <a:avLst/>
          </a:prstGeom>
          <a:solidFill>
            <a:srgbClr val="C5483A"/>
          </a:solidFill>
          <a:ln/>
        </p:spPr>
      </p:sp>
      <p:sp>
        <p:nvSpPr>
          <p:cNvPr id="41" name="Text 39"/>
          <p:cNvSpPr/>
          <p:nvPr/>
        </p:nvSpPr>
        <p:spPr>
          <a:xfrm>
            <a:off x="6309360" y="54772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7040880" y="543153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fear-based positioning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040880" y="5797296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Decision-empowerment framing only. No 'subscribe or be sued'.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 //  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need from this room, this week.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1280160" cy="13716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83080"/>
            <a:ext cx="1280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011680" y="19659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off the pricing architecture.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11680" y="244144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tiers (Solo $89, Business $249) + credit overage + $25 one-off + Foundation 100 at $179/mo locked. Today.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0" y="2240280"/>
            <a:ext cx="2286000" cy="457200"/>
          </a:xfrm>
          <a:prstGeom prst="rect">
            <a:avLst/>
          </a:prstGeom>
          <a:solidFill>
            <a:srgbClr val="F5E5DD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sign-off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11064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246120"/>
            <a:ext cx="1280160" cy="137160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46120"/>
            <a:ext cx="1280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2011680" y="34290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Greenlight one founder-week of build.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011680" y="390448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page rewrite, Stripe SOLO and BUSINESS Price IDs, $25 Letter of Offer one-off SKU, Foundation 100 banner. Ships in 5 days.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0" y="3703320"/>
            <a:ext cx="2286000" cy="457200"/>
          </a:xfrm>
          <a:prstGeom prst="rect">
            <a:avLst/>
          </a:prstGeom>
          <a:solidFill>
            <a:srgbClr val="F5E5DD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0" y="3703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commitment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64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709160"/>
            <a:ext cx="1280160" cy="1371600"/>
          </a:xfrm>
          <a:prstGeom prst="rect">
            <a:avLst/>
          </a:prstGeom>
          <a:solidFill>
            <a:srgbClr val="C6613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709160"/>
            <a:ext cx="1280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2011680" y="48920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 the pilot conversion terms.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011680" y="536752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 pilots, $0 for 30 days, then $79 locked for 12 months as Foundation Members 1-10. Public launch 1 September 2026.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0" y="5166360"/>
            <a:ext cx="2286000" cy="457200"/>
          </a:xfrm>
          <a:prstGeom prst="rect">
            <a:avLst/>
          </a:prstGeom>
          <a:solidFill>
            <a:srgbClr val="F5E5DD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0" y="5166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Co-owner alignment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11430000" cy="630936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74320"/>
            <a:ext cx="11430000" cy="365760"/>
          </a:xfrm>
          <a:prstGeom prst="rect">
            <a:avLst/>
          </a:prstGeom>
          <a:solidFill>
            <a:srgbClr val="E8E6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11480"/>
            <a:ext cx="137160" cy="137160"/>
          </a:xfrm>
          <a:prstGeom prst="ellipse">
            <a:avLst/>
          </a:prstGeom>
          <a:solidFill>
            <a:srgbClr val="E26464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411480"/>
            <a:ext cx="137160" cy="137160"/>
          </a:xfrm>
          <a:prstGeom prst="ellipse">
            <a:avLst/>
          </a:prstGeom>
          <a:solidFill>
            <a:srgbClr val="E2B264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411480"/>
            <a:ext cx="137160" cy="137160"/>
          </a:xfrm>
          <a:prstGeom prst="ellipse">
            <a:avLst/>
          </a:prstGeom>
          <a:solidFill>
            <a:srgbClr val="8AC8A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humanistiqs.ai/pricing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640080"/>
            <a:ext cx="11430000" cy="5943600"/>
          </a:xfrm>
          <a:prstGeom prst="rect">
            <a:avLst/>
          </a:prstGeom>
          <a:solidFill>
            <a:srgbClr val="FAF9F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777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HQ.ai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0" y="822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  //   Pricing   //   Customers   //   Library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332720" y="777240"/>
            <a:ext cx="1280160" cy="36576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0" y="7772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12801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built around decisions, not seats.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85800" y="1783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 for 14 days. Pay only when HQ.ai is saving you hours.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2194560"/>
            <a:ext cx="10789920" cy="41148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" y="2194560"/>
            <a:ext cx="73152" cy="4114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21945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100  //  </a:t>
            </a:r>
            <a:pPr indent="0" marL="0">
              <a:buNone/>
            </a:pPr>
            <a:r>
              <a:rPr lang="en-US" sz="1100" dirty="0">
                <a:solidFill>
                  <a:srgbClr val="FAF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100 customers lock Business at $179/mo for life. </a:t>
            </a:r>
            <a:pPr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slots left.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2788920"/>
            <a:ext cx="33832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926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3246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your DIY policy file.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14400" y="3566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$89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14400" y="41148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 AUD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4400" y="4389120"/>
            <a:ext cx="2926080" cy="13716"/>
          </a:xfrm>
          <a:prstGeom prst="rect">
            <a:avLst/>
          </a:prstGeom>
          <a:solidFill>
            <a:srgbClr val="D1CFC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48056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Advisor + 33 templates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active recruit role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credits / month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seats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" y="5120640"/>
            <a:ext cx="2926080" cy="32004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5120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 14-day trial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51960" y="2788920"/>
            <a:ext cx="3383280" cy="2743200"/>
          </a:xfrm>
          <a:prstGeom prst="rect">
            <a:avLst/>
          </a:prstGeom>
          <a:solidFill>
            <a:srgbClr val="141413"/>
          </a:solidFill>
          <a:ln w="9525">
            <a:solidFill>
              <a:srgbClr val="14141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55080" y="2651760"/>
            <a:ext cx="1188720" cy="2743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26517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80560" y="2926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480560" y="3246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your $850 Employsure retainer.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480560" y="3566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$249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4480560" y="41148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 AUD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80560" y="4389120"/>
            <a:ext cx="2926080" cy="13716"/>
          </a:xfrm>
          <a:prstGeom prst="rect">
            <a:avLst/>
          </a:prstGeom>
          <a:solidFill>
            <a:srgbClr val="3D3D3A"/>
          </a:solidFill>
          <a:ln/>
        </p:spPr>
      </p:sp>
      <p:sp>
        <p:nvSpPr>
          <p:cNvPr id="35" name="Text 33"/>
          <p:cNvSpPr/>
          <p:nvPr/>
        </p:nvSpPr>
        <p:spPr>
          <a:xfrm>
            <a:off x="4480560" y="448056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Solo, plus...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recruit roles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 credits / month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advisor sessions included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onboarding call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seats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480560" y="5120640"/>
            <a:ext cx="2926080" cy="32004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7" name="Text 35"/>
          <p:cNvSpPr/>
          <p:nvPr/>
        </p:nvSpPr>
        <p:spPr>
          <a:xfrm>
            <a:off x="4480560" y="5120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 14-day trial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818120" y="2788920"/>
            <a:ext cx="36576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1CFC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46720" y="2926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One-off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04672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letter. One price. No signup.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046720" y="35661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$25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8046720" y="4114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046720" y="4389120"/>
            <a:ext cx="3200400" cy="13716"/>
          </a:xfrm>
          <a:prstGeom prst="rect">
            <a:avLst/>
          </a:prstGeom>
          <a:solidFill>
            <a:srgbClr val="D1CFC5"/>
          </a:solidFill>
          <a:ln/>
        </p:spPr>
      </p:sp>
      <p:sp>
        <p:nvSpPr>
          <p:cNvPr id="44" name="Text 42"/>
          <p:cNvSpPr/>
          <p:nvPr/>
        </p:nvSpPr>
        <p:spPr>
          <a:xfrm>
            <a:off x="8046720" y="44805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of Offer  //  $25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Description  //  $29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&amp; Final Warning  //  $35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Letter  //  $45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D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Contract  //  $49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046720" y="5120640"/>
            <a:ext cx="3200400" cy="320040"/>
          </a:xfrm>
          <a:prstGeom prst="rect">
            <a:avLst/>
          </a:prstGeom>
          <a:solidFill>
            <a:srgbClr val="141413"/>
          </a:solidFill>
          <a:ln/>
        </p:spPr>
      </p:sp>
      <p:sp>
        <p:nvSpPr>
          <p:cNvPr id="46" name="Text 44"/>
          <p:cNvSpPr/>
          <p:nvPr/>
        </p:nvSpPr>
        <p:spPr>
          <a:xfrm>
            <a:off x="8046720" y="5120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documents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85800" y="56692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prices AUD. GST inclusive. Cancel anytime. 14-day trial, no card required.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85800" y="59893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you if  //  you have 250+ staff, in-house HR, or want a 5-year contract. We are not built for you.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pricing page  //  humanistiqs.ai/pricing  //  Ivory &amp; Clay marketing surface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HUMANISTIQS // HQ.AI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AF9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Discussion.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611880"/>
            <a:ext cx="548640" cy="457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794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Decisions needed today.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11064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Pricing architecture sign-off  //  Solo $89, Business $249, $25 one-off, Foundation 100 at $179.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One founder-week of build to ship the new pricing page by 27 May.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D1C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Pilot conversion terms  //  $0 for 30 days, then $79 locked 12 months, Foundation slots 1-10.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Jimmy Rayner  //  jrayner@humanistiqs.com.au  //  21 May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HQ.ai Pricing &amp; Monetisation - Director Review</dc:title>
  <dc:subject>PptxGenJS Presentation</dc:subject>
  <dc:creator>Humanistiqs / HQ.ai</dc:creator>
  <cp:lastModifiedBy>Humanistiqs / HQ.ai</cp:lastModifiedBy>
  <cp:revision>1</cp:revision>
  <dcterms:created xsi:type="dcterms:W3CDTF">2026-05-21T00:36:23Z</dcterms:created>
  <dcterms:modified xsi:type="dcterms:W3CDTF">2026-05-21T00:36:23Z</dcterms:modified>
</cp:coreProperties>
</file>